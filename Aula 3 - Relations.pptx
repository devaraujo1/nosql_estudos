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58" r:id="rId6"/>
    <p:sldId id="271" r:id="rId7"/>
    <p:sldId id="272" r:id="rId8"/>
    <p:sldId id="259" r:id="rId9"/>
    <p:sldId id="260" r:id="rId10"/>
    <p:sldId id="261" r:id="rId11"/>
    <p:sldId id="273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10" autoAdjust="0"/>
  </p:normalViewPr>
  <p:slideViewPr>
    <p:cSldViewPr snapToGrid="0" snapToObjects="1">
      <p:cViewPr>
        <p:scale>
          <a:sx n="100" d="100"/>
          <a:sy n="100" d="100"/>
        </p:scale>
        <p:origin x="444" y="1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388" y="2979390"/>
            <a:ext cx="9791223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0ED64"/>
                </a:solidFill>
                <a:latin typeface="Poppins"/>
              </a:rPr>
              <a:t>MongoDB: Modelagem &amp;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783210"/>
            <a:ext cx="8096250" cy="1247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Identificadores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Únicos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,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Tipos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de Dados,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Projeções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e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Padrões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Avançados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de Relacionamento (1:1, 1:N, N:M)</a:t>
            </a:r>
            <a:endParaRPr lang="en-US" sz="1650" b="0" i="0" u="none" dirty="0">
              <a:solidFill>
                <a:srgbClr val="94A3B8"/>
              </a:solidFill>
              <a:latin typeface="Lato"/>
            </a:endParaRPr>
          </a:p>
          <a:p>
            <a:pPr algn="ctr">
              <a:lnSpc>
                <a:spcPts val="2475"/>
              </a:lnSpc>
            </a:pPr>
            <a:endParaRPr lang="en-US" sz="1650" dirty="0">
              <a:solidFill>
                <a:srgbClr val="94A3B8"/>
              </a:solidFill>
              <a:latin typeface="Lato"/>
            </a:endParaRPr>
          </a:p>
          <a:p>
            <a:pPr algn="ctr">
              <a:lnSpc>
                <a:spcPts val="2475"/>
              </a:lnSpc>
            </a:pPr>
            <a:r>
              <a:rPr lang="en-US" sz="1650" dirty="0">
                <a:solidFill>
                  <a:srgbClr val="94A3B8"/>
                </a:solidFill>
                <a:latin typeface="Lato"/>
              </a:rPr>
              <a:t>Prof. Jefté Goes</a:t>
            </a:r>
            <a:endParaRPr sz="1650" b="0" i="0" u="none" dirty="0">
              <a:solidFill>
                <a:srgbClr val="94A3B8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82428"/>
            <a:ext cx="5372100" cy="31313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282428"/>
            <a:ext cx="5372100" cy="3131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2530078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1. IDs Únicos (_id)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2958703"/>
            <a:ext cx="48768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Todo documento no MongoDB DEVE possuir obrigatoriamente um campo _id.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2530078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2. Documentos Incorporados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958703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Permitem armazenar dados relacionados diretamente dentro do documento principal.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425428"/>
            <a:ext cx="46482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O MongoDB gera automaticamente um ObjectId() de 12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777853"/>
            <a:ext cx="46482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Você pode definir qualquer valor customizado para o _id.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3415903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Elimina a necessidade de junções de tabelas (</a:t>
            </a:r>
            <a:r>
              <a:rPr sz="1200" b="0" i="1" u="none">
                <a:solidFill>
                  <a:srgbClr val="CBD5E1"/>
                </a:solidFill>
                <a:latin typeface="Lato"/>
              </a:rPr>
              <a:t>joins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) custosas.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758803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Excelente desempenho para dados que pertencem juntos.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101703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Exemplo: Dados de endereço mantidos no perfil do cliente.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3425428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777853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415903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758803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101703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IDs Únicos &amp; Documentos Incorporados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5E511-2FEA-7069-9C3F-60566EF2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C442660-C10B-9942-AC5D-4B891F78D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9D276C2-6E2A-A429-BAFE-DE703A67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2282428"/>
            <a:ext cx="11029949" cy="313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184A2C-D80F-3B79-3D8B-21953CC9A943}"/>
              </a:ext>
            </a:extLst>
          </p:cNvPr>
          <p:cNvSpPr txBox="1"/>
          <p:nvPr/>
        </p:nvSpPr>
        <p:spPr>
          <a:xfrm>
            <a:off x="828675" y="2530078"/>
            <a:ext cx="51206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dirty="0">
                <a:solidFill>
                  <a:srgbClr val="00ED64"/>
                </a:solidFill>
                <a:latin typeface="Poppins SemiBold"/>
              </a:rPr>
              <a:t>3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. IDs </a:t>
            </a:r>
            <a:r>
              <a:rPr sz="1650" b="0" i="0" u="none" dirty="0" err="1">
                <a:solidFill>
                  <a:srgbClr val="00ED64"/>
                </a:solidFill>
                <a:latin typeface="Poppins SemiBold"/>
              </a:rPr>
              <a:t>Únicos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 (_id)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5D8EF-8B40-B245-A739-016DC0D6B0D0}"/>
              </a:ext>
            </a:extLst>
          </p:cNvPr>
          <p:cNvSpPr txBox="1"/>
          <p:nvPr/>
        </p:nvSpPr>
        <p:spPr>
          <a:xfrm>
            <a:off x="828675" y="2958703"/>
            <a:ext cx="48768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Todo documento no MongoDB DEVE possuir obrigatoriamente um campo _id.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9DBDE-A926-8955-2680-D0E8FCA3923B}"/>
              </a:ext>
            </a:extLst>
          </p:cNvPr>
          <p:cNvSpPr txBox="1"/>
          <p:nvPr/>
        </p:nvSpPr>
        <p:spPr>
          <a:xfrm>
            <a:off x="1057275" y="3425428"/>
            <a:ext cx="46482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O MongoDB gera automaticamente um ObjectId() de 12 bytes.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E4B2E3-5837-4DFE-2AC4-9B2AF84BBDDA}"/>
              </a:ext>
            </a:extLst>
          </p:cNvPr>
          <p:cNvSpPr txBox="1"/>
          <p:nvPr/>
        </p:nvSpPr>
        <p:spPr>
          <a:xfrm>
            <a:off x="1057275" y="3777853"/>
            <a:ext cx="46482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Você pode definir qualquer valor customizado para o _id.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DAB732-9F46-51D5-103C-F53F2F39616B}"/>
              </a:ext>
            </a:extLst>
          </p:cNvPr>
          <p:cNvSpPr txBox="1"/>
          <p:nvPr/>
        </p:nvSpPr>
        <p:spPr>
          <a:xfrm>
            <a:off x="828675" y="3425428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4B5F94-AE86-43E0-F152-534D992C4199}"/>
              </a:ext>
            </a:extLst>
          </p:cNvPr>
          <p:cNvSpPr txBox="1"/>
          <p:nvPr/>
        </p:nvSpPr>
        <p:spPr>
          <a:xfrm>
            <a:off x="828675" y="3777853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E1C71-5C96-47BE-F17A-2CC74C5FD68C}"/>
              </a:ext>
            </a:extLst>
          </p:cNvPr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IDs 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Únicos</a:t>
            </a:r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 &amp; </a:t>
            </a:r>
            <a:r>
              <a:rPr lang="en-US" sz="2550" b="0" i="0" u="none" dirty="0">
                <a:solidFill>
                  <a:srgbClr val="FFFFFF"/>
                </a:solidFill>
                <a:latin typeface="Poppins SemiBold"/>
              </a:rPr>
              <a:t>Embedded Documents (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Documentos</a:t>
            </a:r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 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Incorporados</a:t>
            </a:r>
            <a:r>
              <a:rPr lang="en-US" sz="2550" b="0" i="0" u="none" dirty="0">
                <a:solidFill>
                  <a:srgbClr val="FFFFFF"/>
                </a:solidFill>
                <a:latin typeface="Poppins SemiBold"/>
              </a:rPr>
              <a:t>)</a:t>
            </a:r>
            <a:endParaRPr sz="2550" b="0" i="0" u="none" dirty="0">
              <a:solidFill>
                <a:srgbClr val="FFFFFF"/>
              </a:solidFill>
              <a:latin typeface="Poppins SemiBol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56CC8E-261F-3475-983B-E56996A4BA73}"/>
              </a:ext>
            </a:extLst>
          </p:cNvPr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6592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ADDF5-BDCE-54E4-DECB-223B8B31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D7619D3-6A1C-7E1D-2A4C-C861124A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D2AA7B1-4BB6-D9C0-F936-73E52105C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03081"/>
            <a:ext cx="5372100" cy="3131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30978D-68F6-5AA7-AC05-DF9C8A7E97FF}"/>
              </a:ext>
            </a:extLst>
          </p:cNvPr>
          <p:cNvSpPr txBox="1"/>
          <p:nvPr/>
        </p:nvSpPr>
        <p:spPr>
          <a:xfrm>
            <a:off x="828675" y="2450731"/>
            <a:ext cx="51206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0" i="0" u="none" dirty="0">
                <a:solidFill>
                  <a:srgbClr val="00ED64"/>
                </a:solidFill>
                <a:latin typeface="Poppins SemiBold"/>
              </a:rPr>
              <a:t>4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. </a:t>
            </a:r>
            <a:r>
              <a:rPr sz="1650" b="0" i="0" u="none" dirty="0" err="1">
                <a:solidFill>
                  <a:srgbClr val="00ED64"/>
                </a:solidFill>
                <a:latin typeface="Poppins SemiBold"/>
              </a:rPr>
              <a:t>Documentos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 </a:t>
            </a:r>
            <a:r>
              <a:rPr sz="1650" b="0" i="0" u="none" dirty="0" err="1">
                <a:solidFill>
                  <a:srgbClr val="00ED64"/>
                </a:solidFill>
                <a:latin typeface="Poppins SemiBold"/>
              </a:rPr>
              <a:t>Incorporados</a:t>
            </a:r>
            <a:endParaRPr sz="1650" b="0" i="0" u="none" dirty="0">
              <a:solidFill>
                <a:srgbClr val="00ED64"/>
              </a:solidFill>
              <a:latin typeface="Poppins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0EED9-88CF-58E4-5C51-B72D81760B7C}"/>
              </a:ext>
            </a:extLst>
          </p:cNvPr>
          <p:cNvSpPr txBox="1"/>
          <p:nvPr/>
        </p:nvSpPr>
        <p:spPr>
          <a:xfrm>
            <a:off x="828675" y="2879356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Permitem armazenar dados relacionados diretamente dentro do documento principal.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72619-9277-0510-7B29-760552807EEE}"/>
              </a:ext>
            </a:extLst>
          </p:cNvPr>
          <p:cNvSpPr txBox="1"/>
          <p:nvPr/>
        </p:nvSpPr>
        <p:spPr>
          <a:xfrm>
            <a:off x="1057275" y="3336556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Elimina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a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necessidade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junções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tabelas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(</a:t>
            </a:r>
            <a:r>
              <a:rPr sz="1200" b="0" i="1" u="none" dirty="0">
                <a:solidFill>
                  <a:srgbClr val="CBD5E1"/>
                </a:solidFill>
                <a:latin typeface="Lato"/>
              </a:rPr>
              <a:t>joins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)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custosas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E9A3E-7080-0480-C880-65EC881B33B3}"/>
              </a:ext>
            </a:extLst>
          </p:cNvPr>
          <p:cNvSpPr txBox="1"/>
          <p:nvPr/>
        </p:nvSpPr>
        <p:spPr>
          <a:xfrm>
            <a:off x="1057275" y="3679456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Excelente desempenho para dados que pertencem juntos.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8EC8E-826F-7077-9105-3DA85549A049}"/>
              </a:ext>
            </a:extLst>
          </p:cNvPr>
          <p:cNvSpPr txBox="1"/>
          <p:nvPr/>
        </p:nvSpPr>
        <p:spPr>
          <a:xfrm>
            <a:off x="1057275" y="4022356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Exemplo: Dados de endereço mantidos no perfil do cliente.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1F7F24-635D-4645-4EC3-759CEECBE443}"/>
              </a:ext>
            </a:extLst>
          </p:cNvPr>
          <p:cNvSpPr txBox="1"/>
          <p:nvPr/>
        </p:nvSpPr>
        <p:spPr>
          <a:xfrm>
            <a:off x="828675" y="3336556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474B0-EF8A-9350-A1F3-1841575FE1F4}"/>
              </a:ext>
            </a:extLst>
          </p:cNvPr>
          <p:cNvSpPr txBox="1"/>
          <p:nvPr/>
        </p:nvSpPr>
        <p:spPr>
          <a:xfrm>
            <a:off x="828675" y="3679456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1CDF1-1D31-B7DB-DE85-8563AFDBC2BA}"/>
              </a:ext>
            </a:extLst>
          </p:cNvPr>
          <p:cNvSpPr txBox="1"/>
          <p:nvPr/>
        </p:nvSpPr>
        <p:spPr>
          <a:xfrm>
            <a:off x="828675" y="4022356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A86B02-4863-B9FB-35F1-A29BCB2EE1E8}"/>
              </a:ext>
            </a:extLst>
          </p:cNvPr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IDs 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Únicos</a:t>
            </a:r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 &amp; </a:t>
            </a:r>
            <a:r>
              <a:rPr lang="en-US" sz="2550" b="0" i="0" u="none" dirty="0">
                <a:solidFill>
                  <a:srgbClr val="FFFFFF"/>
                </a:solidFill>
                <a:latin typeface="Poppins SemiBold"/>
              </a:rPr>
              <a:t>Embedded Documents (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Documentos</a:t>
            </a:r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 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Incorporados</a:t>
            </a:r>
            <a:r>
              <a:rPr lang="en-US" sz="2550" b="0" i="0" u="none" dirty="0">
                <a:solidFill>
                  <a:srgbClr val="FFFFFF"/>
                </a:solidFill>
                <a:latin typeface="Poppins SemiBold"/>
              </a:rPr>
              <a:t>)</a:t>
            </a:r>
            <a:endParaRPr sz="2550" b="0" i="0" u="none" dirty="0">
              <a:solidFill>
                <a:srgbClr val="FFFFFF"/>
              </a:solidFill>
              <a:latin typeface="Poppins SemiBol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E8F6B-B3BE-5CB1-C596-22D3B380437E}"/>
              </a:ext>
            </a:extLst>
          </p:cNvPr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mbedded Documents">
            <a:extLst>
              <a:ext uri="{FF2B5EF4-FFF2-40B4-BE49-F238E27FC236}">
                <a16:creationId xmlns:a16="http://schemas.microsoft.com/office/drawing/2014/main" id="{294A9260-A79C-18A1-8E14-5C9312158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53991"/>
            <a:ext cx="53435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45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" y="1481137"/>
            <a:ext cx="537210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05" y="4052886"/>
            <a:ext cx="5372100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865" y="1728787"/>
            <a:ext cx="51206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0" i="0" u="none" dirty="0">
                <a:solidFill>
                  <a:srgbClr val="00ED64"/>
                </a:solidFill>
                <a:latin typeface="Poppins SemiBold"/>
              </a:rPr>
              <a:t>5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. </a:t>
            </a:r>
            <a:r>
              <a:rPr sz="1650" b="0" i="0" u="none" dirty="0" err="1">
                <a:solidFill>
                  <a:srgbClr val="00ED64"/>
                </a:solidFill>
                <a:latin typeface="Poppins SemiBold"/>
              </a:rPr>
              <a:t>Projeção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 (Projection)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865" y="2157412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Define quais campos devem ser retornados em uma consulta de busca.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055" y="4300536"/>
            <a:ext cx="512064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0" i="0" u="none" dirty="0">
                <a:solidFill>
                  <a:srgbClr val="00ED64"/>
                </a:solidFill>
                <a:latin typeface="Poppins SemiBold"/>
              </a:rPr>
              <a:t>6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. Sem Schema </a:t>
            </a:r>
            <a:r>
              <a:rPr sz="1650" b="0" i="0" u="none" dirty="0" err="1">
                <a:solidFill>
                  <a:srgbClr val="00ED64"/>
                </a:solidFill>
                <a:latin typeface="Poppins SemiBold"/>
              </a:rPr>
              <a:t>Rígido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055" y="4729161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O MongoDB não impõe schemas estáticos a nível de banco de dados.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465" y="2386012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Evita carregar o documento completo pela rede.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465" y="2728912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Seleciona apenas os atributos estritamente necessários.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465" y="3071812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Economiza largura de banda e memória da aplicação.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655" y="4957761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Documentos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da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mesma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coleção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podem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ter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estruturas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distintas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9655" y="5300661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Permite evolução rápida do modelo sem rotinas pesadas de migração.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9655" y="5643561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A aplicação pode impor validações flexíveis usando JSON Schema.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865" y="23860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" y="27289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65" y="30718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055" y="4957761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055" y="5300661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055" y="5643561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Projeção</a:t>
            </a:r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 &amp; </a:t>
            </a:r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Flexibilidade</a:t>
            </a:r>
            <a:r>
              <a:rPr sz="2550" b="0" i="0" u="none" dirty="0">
                <a:solidFill>
                  <a:srgbClr val="FFFFFF"/>
                </a:solidFill>
                <a:latin typeface="Poppins SemiBold"/>
              </a:rPr>
              <a:t> de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rojection">
            <a:extLst>
              <a:ext uri="{FF2B5EF4-FFF2-40B4-BE49-F238E27FC236}">
                <a16:creationId xmlns:a16="http://schemas.microsoft.com/office/drawing/2014/main" id="{0B8D08A7-1A0B-7F49-A526-E80F12CD5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530" y="1647825"/>
            <a:ext cx="4899554" cy="4029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FC9B3-71EA-1ECD-0F1D-2EE54E00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6F4C186-6CC2-874A-CB6A-F11A1399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941302D-E2BA-E6FB-84AA-695840F4097D}"/>
              </a:ext>
            </a:extLst>
          </p:cNvPr>
          <p:cNvSpPr txBox="1"/>
          <p:nvPr/>
        </p:nvSpPr>
        <p:spPr>
          <a:xfrm>
            <a:off x="581025" y="187184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550" dirty="0" err="1">
                <a:solidFill>
                  <a:srgbClr val="FFFFFF"/>
                </a:solidFill>
                <a:latin typeface="Poppins SemiBold"/>
              </a:rPr>
              <a:t>Flexibilidade</a:t>
            </a:r>
            <a:r>
              <a:rPr lang="en-US" sz="2550" dirty="0">
                <a:solidFill>
                  <a:srgbClr val="FFFFFF"/>
                </a:solidFill>
                <a:latin typeface="Poppins SemiBold"/>
              </a:rPr>
              <a:t> de Schema</a:t>
            </a:r>
            <a:endParaRPr sz="2550" b="0" i="0" u="none" dirty="0">
              <a:solidFill>
                <a:srgbClr val="FFFFFF"/>
              </a:solidFill>
              <a:latin typeface="Poppins SemiBold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C974C5-E1BD-8318-B7BF-D447EB7AEA75}"/>
              </a:ext>
            </a:extLst>
          </p:cNvPr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CDEE0ACC-C96D-B9B1-BE31-910F0E02D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" y="1481137"/>
            <a:ext cx="11033760" cy="431006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309E47B-7A19-3A45-713D-ADBAFE12245E}"/>
              </a:ext>
            </a:extLst>
          </p:cNvPr>
          <p:cNvSpPr txBox="1"/>
          <p:nvPr/>
        </p:nvSpPr>
        <p:spPr>
          <a:xfrm>
            <a:off x="824864" y="1728787"/>
            <a:ext cx="10485119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dirty="0">
                <a:solidFill>
                  <a:srgbClr val="00ED64"/>
                </a:solidFill>
                <a:latin typeface="Poppins SemiBold"/>
              </a:rPr>
              <a:t>7</a:t>
            </a:r>
            <a:r>
              <a:rPr sz="1650" b="0" i="0" u="none" dirty="0">
                <a:solidFill>
                  <a:srgbClr val="00ED64"/>
                </a:solidFill>
                <a:latin typeface="Poppins SemiBold"/>
              </a:rPr>
              <a:t>. </a:t>
            </a:r>
            <a:r>
              <a:rPr lang="pt-BR" sz="1650" b="0" i="0" u="none" dirty="0">
                <a:solidFill>
                  <a:srgbClr val="00ED64"/>
                </a:solidFill>
                <a:latin typeface="Poppins SemiBold"/>
              </a:rPr>
              <a:t>O MongoDB não é justamente conhecido por NÃO exigir schemas de dados?</a:t>
            </a:r>
          </a:p>
          <a:p>
            <a:pPr algn="l"/>
            <a:endParaRPr sz="1650" b="0" i="0" u="none" dirty="0">
              <a:solidFill>
                <a:srgbClr val="00ED64"/>
              </a:solidFill>
              <a:latin typeface="Poppins Semi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A2749F-5A44-DD24-72F9-C012B8160E49}"/>
              </a:ext>
            </a:extLst>
          </p:cNvPr>
          <p:cNvSpPr txBox="1"/>
          <p:nvPr/>
        </p:nvSpPr>
        <p:spPr>
          <a:xfrm>
            <a:off x="957482" y="2358747"/>
            <a:ext cx="10419178" cy="332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600" b="0" i="0" u="none" dirty="0">
                <a:solidFill>
                  <a:srgbClr val="CBD5E1"/>
                </a:solidFill>
                <a:latin typeface="Lato"/>
              </a:rPr>
              <a:t>O MongoDB não impõe um schema rígido! Os documentos dentro de uma mesma collection não precisam necessariamente seguir o mesmo schema.</a:t>
            </a:r>
          </a:p>
          <a:p>
            <a:pPr algn="l"/>
            <a:endParaRPr lang="pt-BR" sz="3600" b="0" i="0" u="none" dirty="0">
              <a:solidFill>
                <a:srgbClr val="CBD5E1"/>
              </a:solidFill>
              <a:latin typeface="Lato"/>
            </a:endParaRPr>
          </a:p>
          <a:p>
            <a:pPr algn="l"/>
            <a:r>
              <a:rPr lang="pt-BR" sz="3600" b="0" i="0" u="none" dirty="0">
                <a:solidFill>
                  <a:srgbClr val="CBD5E1"/>
                </a:solidFill>
                <a:latin typeface="Lato"/>
              </a:rPr>
              <a:t>Porém, isso não significa que você não possa utilizar algum tipo de schema.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3FFD47-52D0-C8F4-5517-0CBE4B2DE41F}"/>
              </a:ext>
            </a:extLst>
          </p:cNvPr>
          <p:cNvSpPr txBox="1"/>
          <p:nvPr/>
        </p:nvSpPr>
        <p:spPr>
          <a:xfrm>
            <a:off x="784530" y="2511147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852901-1B99-9448-C114-656C26FA5F74}"/>
              </a:ext>
            </a:extLst>
          </p:cNvPr>
          <p:cNvSpPr txBox="1"/>
          <p:nvPr/>
        </p:nvSpPr>
        <p:spPr>
          <a:xfrm>
            <a:off x="784530" y="4733404"/>
            <a:ext cx="110417" cy="212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0ED64"/>
                </a:solidFill>
                <a:latin typeface="Lato"/>
              </a:rPr>
              <a:t>▸</a:t>
            </a:r>
          </a:p>
        </p:txBody>
      </p:sp>
    </p:spTree>
    <p:extLst>
      <p:ext uri="{BB962C8B-B14F-4D97-AF65-F5344CB8AC3E}">
        <p14:creationId xmlns:p14="http://schemas.microsoft.com/office/powerpoint/2010/main" val="420125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082D1-82C8-C332-502C-EF93EFB6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5EAE41E-E21F-B581-79A6-53AE44F47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E19D8D6-83FF-9B98-BE0E-AE146B68A80A}"/>
              </a:ext>
            </a:extLst>
          </p:cNvPr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0" i="0" u="none" dirty="0">
                <a:solidFill>
                  <a:srgbClr val="FFFFFF"/>
                </a:solidFill>
                <a:latin typeface="Poppins SemiBold"/>
              </a:rPr>
              <a:t>To Schema Or Not To Schema</a:t>
            </a:r>
            <a:endParaRPr sz="2550" b="0" i="0" u="none" dirty="0">
              <a:solidFill>
                <a:srgbClr val="FFFFFF"/>
              </a:solidFill>
              <a:latin typeface="Poppins SemiBold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0203DA-53A0-626C-E7A3-36838A68D96D}"/>
              </a:ext>
            </a:extLst>
          </p:cNvPr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o-schema-or-not-to-schema.png">
            <a:extLst>
              <a:ext uri="{FF2B5EF4-FFF2-40B4-BE49-F238E27FC236}">
                <a16:creationId xmlns:a16="http://schemas.microsoft.com/office/drawing/2014/main" id="{DA76BEFA-82C1-B8FF-F49C-79D21A07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02" y="1273052"/>
            <a:ext cx="9873395" cy="500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40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314575"/>
            <a:ext cx="11029950" cy="306705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14575"/>
          <a:ext cx="11029948" cy="3067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ED64"/>
                          </a:solidFill>
                          <a:latin typeface="Poppins SemiBold"/>
                        </a:rPr>
                        <a:t>Categoria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ED64"/>
                          </a:solidFill>
                          <a:latin typeface="Poppins SemiBold"/>
                        </a:rPr>
                        <a:t>Tipo de Dado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ED64"/>
                          </a:solidFill>
                          <a:latin typeface="Poppins SemiBold"/>
                        </a:rPr>
                        <a:t>Exemplo Prático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Texto &amp; Booleano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Text, Boolean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"Jefté", 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Numéricos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Integer (int32), Long (int64), Decimal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55, 10000000000, 12.99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Identificadores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ObjectId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ObjectId("5b98d4654d01c52e1637a99b")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Datas &amp; Tempo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ISODate, Timestamp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ISODate("2026-09-15")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Estruturas Complexas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Embedded Document, Array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{ "a": { ... } }, [ "item1", "item2" 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805112"/>
            <a:ext cx="24506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31628" y="2805112"/>
            <a:ext cx="36568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88484" y="2805112"/>
            <a:ext cx="49224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319462"/>
            <a:ext cx="24506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31628" y="3319462"/>
            <a:ext cx="36568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88484" y="3319462"/>
            <a:ext cx="49224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833812"/>
            <a:ext cx="24506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31628" y="3833812"/>
            <a:ext cx="36568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88484" y="3833812"/>
            <a:ext cx="49224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348162"/>
            <a:ext cx="24506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31628" y="4348162"/>
            <a:ext cx="36568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88484" y="4348162"/>
            <a:ext cx="49224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862512"/>
            <a:ext cx="24506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31628" y="4862512"/>
            <a:ext cx="36568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88484" y="4862512"/>
            <a:ext cx="49224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Tipos de Dados Suportados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3835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38350"/>
            <a:ext cx="56407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Perguntas de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466975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Quais dados são necessários?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Define os campos e como eles se relacionam.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809875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Onde o dado é consumido?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Define as coleções e os agrupamentos de campos.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152775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Qual o tipo de exibição?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Determina as consultas mais eficientes.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95675"/>
            <a:ext cx="5143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Qual a frequência de leitura/escrita?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Define se a otimização focará em buscas rápidas ou gravações sem duplicação.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47875"/>
            <a:ext cx="53530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466975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809875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152775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495675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Modelagem: Perguntas Essenciais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57487"/>
            <a:ext cx="537210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57487"/>
            <a:ext cx="5372100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3005137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Muitas Consultas (Read-Heavy)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3433762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Objetivo: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Armazenar o dado pronto no formato exigido pelo Frontend.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3005137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Muitas Gravações (Write-Heavy)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433762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Objetivo: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Armazenar o dado sem duplicações ou redundâncias.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652837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Lato"/>
              </a:rPr>
              <a:t>Evita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transformações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e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agregações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complexas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em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tempo de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execução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129087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Prioriza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o </a:t>
            </a:r>
            <a:r>
              <a:rPr sz="1200" b="0" i="0" u="none" dirty="0" err="1">
                <a:solidFill>
                  <a:srgbClr val="CBD5E1"/>
                </a:solidFill>
                <a:latin typeface="Lato"/>
              </a:rPr>
              <a:t>uso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 de </a:t>
            </a:r>
            <a:r>
              <a:rPr sz="1200" b="1" i="0" u="none" dirty="0" err="1">
                <a:solidFill>
                  <a:srgbClr val="CBD5E1"/>
                </a:solidFill>
                <a:latin typeface="Lato"/>
              </a:rPr>
              <a:t>Documentos</a:t>
            </a:r>
            <a:r>
              <a:rPr sz="1200" b="1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200" b="1" i="0" u="none" dirty="0" err="1">
                <a:solidFill>
                  <a:srgbClr val="CBD5E1"/>
                </a:solidFill>
                <a:latin typeface="Lato"/>
              </a:rPr>
              <a:t>Incorporados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471987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Ideal para catálogos de produtos e páginas iniciais.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681412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Garante atualizações rápidas em um único local.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024312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Prioriza o uso de </a:t>
            </a:r>
            <a:r>
              <a:rPr sz="1200" b="1" i="0" u="none">
                <a:solidFill>
                  <a:srgbClr val="CBD5E1"/>
                </a:solidFill>
                <a:latin typeface="Lato"/>
              </a:rPr>
              <a:t>Referências (ObjectIds)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367212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Ideal para registros financeiros, pedidos e logs em tempo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6814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41386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44815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681412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071937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4414837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Estratégias: Leitura vs. Escrita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F3688-B3DE-34BA-D1BB-20AFB0BC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D4EE2DD-8098-11D3-4C6D-263F2EFA2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3CCDC5-857B-835D-B246-97359B943D7D}"/>
              </a:ext>
            </a:extLst>
          </p:cNvPr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50" b="0" i="0" u="none" dirty="0" err="1">
                <a:solidFill>
                  <a:srgbClr val="FFFFFF"/>
                </a:solidFill>
                <a:latin typeface="Poppins SemiBold"/>
              </a:rPr>
              <a:t>Relações</a:t>
            </a:r>
            <a:r>
              <a:rPr lang="en-US" sz="2550" dirty="0">
                <a:solidFill>
                  <a:srgbClr val="FFFFFF"/>
                </a:solidFill>
                <a:latin typeface="Poppins SemiBold"/>
              </a:rPr>
              <a:t>: Embedded Documents vs References</a:t>
            </a:r>
            <a:endParaRPr sz="2550" b="0" i="0" u="none" dirty="0">
              <a:solidFill>
                <a:srgbClr val="FFFFFF"/>
              </a:solidFill>
              <a:latin typeface="Poppins SemiBol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6E34D-523F-E4C4-6DF9-2D54E0A9A2BA}"/>
              </a:ext>
            </a:extLst>
          </p:cNvPr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elations-options-1.png">
            <a:extLst>
              <a:ext uri="{FF2B5EF4-FFF2-40B4-BE49-F238E27FC236}">
                <a16:creationId xmlns:a16="http://schemas.microsoft.com/office/drawing/2014/main" id="{956B9516-6E16-C8E1-ABAB-A7A635E74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1566862"/>
            <a:ext cx="9277350" cy="448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0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" y="1241226"/>
            <a:ext cx="5372100" cy="32831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065" y="1241226"/>
            <a:ext cx="5372100" cy="3283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865" y="1488876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Exemplo #1 — Paciente ↔ Doença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865" y="1917501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Abordagem: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Documento Incorporado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865" y="2146101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Os dados pertencem exclusivamente ao paciente e são lidos juntos.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2715" y="1488876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Exemplo #2 — Pessoa ↔ Carro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715" y="1917501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Abordagem: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Referência via ObjectId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2715" y="2146101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As entidades possuem vida independente na aplicação.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Relações 1:1 (Um para Um)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One-to-one">
            <a:extLst>
              <a:ext uri="{FF2B5EF4-FFF2-40B4-BE49-F238E27FC236}">
                <a16:creationId xmlns:a16="http://schemas.microsoft.com/office/drawing/2014/main" id="{1D69BB6A-776B-8D1F-45B0-0687AE308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855298"/>
            <a:ext cx="5372101" cy="1516927"/>
          </a:xfrm>
          <a:prstGeom prst="rect">
            <a:avLst/>
          </a:prstGeom>
        </p:spPr>
      </p:pic>
      <p:pic>
        <p:nvPicPr>
          <p:cNvPr id="14" name="Picture 13" descr="One-to-one">
            <a:extLst>
              <a:ext uri="{FF2B5EF4-FFF2-40B4-BE49-F238E27FC236}">
                <a16:creationId xmlns:a16="http://schemas.microsoft.com/office/drawing/2014/main" id="{CB990CE6-9D55-8F4B-865E-D3864925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066" y="4854222"/>
            <a:ext cx="5375910" cy="15180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" y="1300162"/>
            <a:ext cx="5372100" cy="31099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065" y="1300162"/>
            <a:ext cx="5372100" cy="3109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865" y="1547812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Exemplo #3 — Tópico ↔ Respostas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865" y="1976437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Abordagem: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Documento Incorporado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865" y="2205037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Respostas são contidas no próprio fórum de discussão.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2715" y="1547812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Exemplo #4 — Cidade ↔ Cidadãos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715" y="1976437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Abordagem: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Referência via ObjectId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2715" y="2205037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Evita estourar o limite de 16MB caso haja milhões de cidadãos.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Relações 1:N (Um para Muitos)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One-to-Many">
            <a:extLst>
              <a:ext uri="{FF2B5EF4-FFF2-40B4-BE49-F238E27FC236}">
                <a16:creationId xmlns:a16="http://schemas.microsoft.com/office/drawing/2014/main" id="{1841C3E5-DC5B-9AC5-91D3-DC8931FC1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" y="4524374"/>
            <a:ext cx="4636770" cy="2177329"/>
          </a:xfrm>
          <a:prstGeom prst="rect">
            <a:avLst/>
          </a:prstGeom>
        </p:spPr>
      </p:pic>
      <p:pic>
        <p:nvPicPr>
          <p:cNvPr id="14" name="Picture 13" descr="One-to-Many">
            <a:extLst>
              <a:ext uri="{FF2B5EF4-FFF2-40B4-BE49-F238E27FC236}">
                <a16:creationId xmlns:a16="http://schemas.microsoft.com/office/drawing/2014/main" id="{E738C661-8900-21E4-4ECD-A1DD3A6E7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09" y="4524374"/>
            <a:ext cx="4636770" cy="21773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20700"/>
            <a:ext cx="5372100" cy="32831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20700"/>
            <a:ext cx="5372100" cy="3283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15683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Exemplo #5 — Clientes ↔ Produtos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996975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Abordagem: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Documento Incorporado (Pedidos)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5575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O histórico de pedidos é congelado dentro do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15683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ED64"/>
                </a:solidFill>
                <a:latin typeface="Poppins SemiBold"/>
              </a:rPr>
              <a:t>Exemplo #6 — Livros ↔ Autores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1996975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Abordagem: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Array de Referências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225575"/>
            <a:ext cx="487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Autores e Livros possuem relacionamentos cruzados.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Relações N:M (Muitos para Muitos)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any-to-Many">
            <a:extLst>
              <a:ext uri="{FF2B5EF4-FFF2-40B4-BE49-F238E27FC236}">
                <a16:creationId xmlns:a16="http://schemas.microsoft.com/office/drawing/2014/main" id="{4A1AD976-1B0C-854F-C467-C038F5001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913" y="4710021"/>
            <a:ext cx="4348163" cy="2041805"/>
          </a:xfrm>
          <a:prstGeom prst="rect">
            <a:avLst/>
          </a:prstGeom>
        </p:spPr>
      </p:pic>
      <p:pic>
        <p:nvPicPr>
          <p:cNvPr id="14" name="Picture 13" descr="many-to-many-books-authors.png">
            <a:extLst>
              <a:ext uri="{FF2B5EF4-FFF2-40B4-BE49-F238E27FC236}">
                <a16:creationId xmlns:a16="http://schemas.microsoft.com/office/drawing/2014/main" id="{50274AC5-315A-918C-286F-A0F09C578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989" y="4698734"/>
            <a:ext cx="4348164" cy="20418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586037"/>
            <a:ext cx="11029950" cy="25241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86037"/>
          <a:ext cx="11029949" cy="2524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4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ED64"/>
                          </a:solidFill>
                          <a:latin typeface="Poppins SemiBold"/>
                        </a:rPr>
                        <a:t>Característica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ED64"/>
                          </a:solidFill>
                          <a:latin typeface="Poppins SemiBold"/>
                        </a:rPr>
                        <a:t>Documentos Incorporados (Embedded)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ED64"/>
                          </a:solidFill>
                          <a:latin typeface="Poppins SemiBold"/>
                        </a:rPr>
                        <a:t>Referências (References)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Organização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Agrupa os dados logicamente no mesmo documento.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Divide os dados entre coleções distintas.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Caso de Uso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Dados pertencentes juntos que não se sobrepõem.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Dados compartilhados ou com existência autônoma.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Desempenho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Excelente para leitura (consulta única sem </a:t>
                      </a:r>
                      <a:r>
                        <a:rPr sz="1200" b="0" i="1" u="none">
                          <a:solidFill>
                            <a:srgbClr val="CBD5E1"/>
                          </a:solidFill>
                          <a:latin typeface="Lato"/>
                        </a:rPr>
                        <a:t>joins</a:t>
                      </a:r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Evita duplicação de escrita e otimiza atualizações.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Limitações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Atenção ao limite máximo de 16MB por documento.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Exige consultas adicionais ou estágio $lookup.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76575"/>
            <a:ext cx="18460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27089" y="3076575"/>
            <a:ext cx="4609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36444" y="3076575"/>
            <a:ext cx="45745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81400"/>
            <a:ext cx="18460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27089" y="3581400"/>
            <a:ext cx="4609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36444" y="3581400"/>
            <a:ext cx="45745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086225"/>
            <a:ext cx="18460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7089" y="4086225"/>
            <a:ext cx="4609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36444" y="4086225"/>
            <a:ext cx="45745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91050"/>
            <a:ext cx="18460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27089" y="4591050"/>
            <a:ext cx="4609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36444" y="4591050"/>
            <a:ext cx="457453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Comparativo: Embedded vs. 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71737"/>
            <a:ext cx="3517850" cy="2752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471737"/>
            <a:ext cx="3517850" cy="2752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471737"/>
            <a:ext cx="3517850" cy="2752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9767" y="3376612"/>
            <a:ext cx="174021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ED64"/>
                </a:solidFill>
                <a:latin typeface="Poppins SemiBold"/>
              </a:rPr>
              <a:t>Use Embedded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805237"/>
            <a:ext cx="3079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Quando os dados forem acessados juntos, houver forte relação de pertencimento, os dados não forem compartilhados e o tamanho total do documento estiver sob controle.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5741" y="3376612"/>
            <a:ext cx="17602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ED64"/>
                </a:solidFill>
                <a:latin typeface="Poppins SemiBold"/>
              </a:rPr>
              <a:t>Use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075" y="3805237"/>
            <a:ext cx="30797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Quando os dados forem compartilhados entre várias entidades, possuírem vida independente, os documentos puderem crescer sem limite fixo ou houver relação N:M complexa.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1749" y="3376612"/>
            <a:ext cx="124015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0ED64"/>
                </a:solidFill>
                <a:latin typeface="Poppins SemiBold"/>
              </a:rPr>
              <a:t>Ajuste Fino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2050" y="3805237"/>
            <a:ext cx="3079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Modele a estrutura considerando o comportamento real de uso do sistema: equilibre a taxa de Leitura (Read) vs. Escrita (Write) da sua aplicação.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563" y="2786062"/>
            <a:ext cx="4286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726" y="2786062"/>
            <a:ext cx="4762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1326" y="2786062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Regra Prática para Tomada de Decisão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443162"/>
            <a:ext cx="11581447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ED64"/>
                </a:solidFill>
                <a:latin typeface="Poppins"/>
              </a:rPr>
              <a:t>Dúvidas?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538537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Obrigado pela atenção!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233862"/>
            <a:ext cx="1102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Lato"/>
              </a:rPr>
              <a:t>MongoDB Data Modeling &amp; Architecture Guide | www.mongodb.com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3467100"/>
            <a:ext cx="66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0ED64"/>
                </a:solidFill>
                <a:latin typeface="Lato"/>
              </a:rPr>
              <a:t>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609975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5000" y="3617118"/>
            <a:ext cx="97059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Lato"/>
              </a:rPr>
              <a:t>https://profisee.com/wp-content/uploads/2024/05/Blog_WhatIsDataArch_800x450-FI.png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3850481"/>
            <a:ext cx="9705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profisee.com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Poppins SemiBold"/>
              </a:rPr>
              <a:t>Image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1066800"/>
            <a:ext cx="11029950" cy="19050"/>
          </a:xfrm>
          <a:prstGeom prst="rect">
            <a:avLst/>
          </a:prstGeom>
          <a:solidFill>
            <a:srgbClr val="00E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1037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jefte goes salvador silva</cp:lastModifiedBy>
  <cp:revision>2</cp:revision>
  <dcterms:created xsi:type="dcterms:W3CDTF">2013-01-27T09:14:16Z</dcterms:created>
  <dcterms:modified xsi:type="dcterms:W3CDTF">2026-09-15T21:09:22Z</dcterms:modified>
  <cp:category/>
</cp:coreProperties>
</file>